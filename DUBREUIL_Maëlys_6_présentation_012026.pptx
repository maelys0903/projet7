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6" r:id="rId5"/>
    <p:sldId id="259" r:id="rId6"/>
    <p:sldId id="260" r:id="rId7"/>
    <p:sldId id="268" r:id="rId8"/>
    <p:sldId id="270" r:id="rId9"/>
    <p:sldId id="269" r:id="rId10"/>
    <p:sldId id="262" r:id="rId11"/>
    <p:sldId id="263" r:id="rId12"/>
    <p:sldId id="264" r:id="rId13"/>
    <p:sldId id="267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4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B8BD05-20CE-4AA7-A37E-216760EF6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C13F5EA-5875-EFE3-5FCE-B539C2999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B12BF4-8442-741E-1307-E656B8FF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2B3AE4-1D92-CF58-8BCC-6BE8A332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0F861E-4944-F47C-F0F1-C835A1C0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58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7F44BD-BB84-EE25-A485-ECC6908D2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A287F2-601C-E2D8-9291-DB3BB4B33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6E7802-ED5A-6514-9F5F-DACF2054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9363BC-B81B-F7BE-BE32-36C05AD2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824446-532E-DBAF-CBDB-1AF9D515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22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23B76-4D21-01B5-1699-9E65361E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5E0928-6130-D056-3434-3E7D6FAEA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C05AD8-D997-012B-8419-A2B19B5E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326946-B5E7-4874-9081-A64A1D33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EC48AB-E462-396B-F3D6-F80736EEE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01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E9734D-96FE-5597-F396-6A8A7A16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D8836-161F-645D-9F38-35C0188367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C9DBBB-9AAE-24D4-A495-A97D5FE5A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FBCDDE-8FD5-4000-5BF6-BE4DDD48C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3151D3-D52D-1A67-683C-66D19DA7A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676530-8AEF-BCF0-8C39-4F60DBCB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150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469AE4-FC97-9F0F-3A57-45320C42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FDAA2A-08FD-EC84-3E33-753C3F2F7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EE3CD5-5400-9729-D2A1-055C4A7B6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613834-3607-D4A7-8370-F642C5D85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B65BF33-338C-CCB3-89B4-03DCA338F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29CC663-47DB-9A54-2799-32EBE428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130DFAA-4903-1991-89D0-71887D3C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6D400F4-2FA8-26F0-49BF-06835B72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03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4D1793-2EC4-FD01-BD99-18D4F29D5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45BE280-75DE-5054-5A4C-448DB569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296EB8-EE5D-C82E-E18A-ED49EB60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A64A6D-A8E3-B443-68E2-C2F35115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934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B412224-C6A9-D2A6-3D58-1BB28638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6C446A-FF4F-E76A-10F3-2F8117E0D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092288-008E-A49F-6BCA-A12F76E3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98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ABC14-6104-431E-27EB-167C89F0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5ADE72-D307-AA8A-AD57-98BD7E4AA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4A48B3-E813-4ED3-D631-2644D393B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2735E8-725E-BC99-6EF5-F00C3321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5318B0-8A40-82D8-86A2-CE72359D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39BCD9-6307-5CFD-5A60-BCCD6EA7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36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7BE3E-4FD2-856B-C0A6-BAE1220A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B125297-3EEB-CF80-2F9C-9CC653836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55DC86F-4150-4C8C-55A7-79BB8188C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BEB370-4424-165C-4D16-13CAFBAA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5B0B2C-CB0E-77D1-6332-CEFC3480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DF736F-8364-55BB-3A98-6C6B5414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89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0FB533-143C-2A7F-5513-DE287820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61C8CB-D644-9BB9-3AD8-0684D1DB5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6E2A3C-4BB5-18D6-045D-D099383E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68BDCC-9C1E-D11B-81B4-43325929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C54339-80C1-4370-27B1-8C5D36E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22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254C8DA-5E11-1E6D-9AC9-802CF14932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675A11-26AD-DAEB-199B-623164358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B5F6E5-BEC0-2E48-305F-9F57AED3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F0E080-3BF2-BF72-7005-4EF8170A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978F50-4DBB-57C1-047F-40FD536C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71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45E491D-CBFB-D909-A0B9-B55285F1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2A044C-0041-D92D-2681-91C19E5F9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B8DA6E-9AE0-5649-DD60-0B84EC7F0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EA8B6-5DDE-4B90-B86B-8497C0469D2C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FFF467-EECD-49D1-0DEF-6F75983B4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25BC6C-DDCF-BAE4-E0F6-997975988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B4307-0DC4-4FDA-8433-B5266B73EB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95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t7-l492.onrender.com/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Science Recruiting &amp; Staffing | BI &amp; AI Consulting | Dataspace">
            <a:extLst>
              <a:ext uri="{FF2B5EF4-FFF2-40B4-BE49-F238E27FC236}">
                <a16:creationId xmlns:a16="http://schemas.microsoft.com/office/drawing/2014/main" id="{75601A0D-8EA5-36DA-7D26-B0F176F22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97" y="529281"/>
            <a:ext cx="6886735" cy="307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5F2D1D2F-AE93-66FE-5F1E-12AC1E41FAA8}"/>
              </a:ext>
            </a:extLst>
          </p:cNvPr>
          <p:cNvSpPr/>
          <p:nvPr/>
        </p:nvSpPr>
        <p:spPr>
          <a:xfrm rot="16200000">
            <a:off x="3761199" y="-1572802"/>
            <a:ext cx="6858000" cy="10003604"/>
          </a:xfrm>
          <a:prstGeom prst="rtTriangle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C13BC04-8CE0-791B-2EC4-BD27CEF56796}"/>
              </a:ext>
            </a:extLst>
          </p:cNvPr>
          <p:cNvSpPr/>
          <p:nvPr/>
        </p:nvSpPr>
        <p:spPr>
          <a:xfrm>
            <a:off x="7222734" y="2661007"/>
            <a:ext cx="246580" cy="44178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A764251-D027-62AF-A892-FAC9FD6A044D}"/>
              </a:ext>
            </a:extLst>
          </p:cNvPr>
          <p:cNvSpPr txBox="1"/>
          <p:nvPr/>
        </p:nvSpPr>
        <p:spPr>
          <a:xfrm>
            <a:off x="142127" y="5974776"/>
            <a:ext cx="3739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284D72"/>
                </a:solidFill>
              </a:rPr>
              <a:t>Maëlys DUBREUIL</a:t>
            </a:r>
          </a:p>
          <a:p>
            <a:r>
              <a:rPr lang="fr-FR" sz="2000" dirty="0" err="1">
                <a:solidFill>
                  <a:srgbClr val="284D72"/>
                </a:solidFill>
              </a:rPr>
              <a:t>OpenClassRooms</a:t>
            </a:r>
            <a:endParaRPr lang="fr-FR" sz="2000" dirty="0">
              <a:solidFill>
                <a:srgbClr val="284D72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DE34429-7326-84B8-EF0F-008CFE06BB86}"/>
              </a:ext>
            </a:extLst>
          </p:cNvPr>
          <p:cNvSpPr txBox="1"/>
          <p:nvPr/>
        </p:nvSpPr>
        <p:spPr>
          <a:xfrm>
            <a:off x="6501828" y="3774460"/>
            <a:ext cx="56901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0" dirty="0">
                <a:solidFill>
                  <a:schemeClr val="bg1"/>
                </a:solidFill>
              </a:rPr>
              <a:t>Développez une preuve de concept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886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D0180F-A55B-1E86-9B0A-3742B20DA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u="sng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8B45E7-1505-AB1E-715A-5E9835DE1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Contexte</a:t>
            </a:r>
          </a:p>
          <a:p>
            <a:r>
              <a:rPr lang="fr-FR" dirty="0"/>
              <a:t>Objectif du test technique</a:t>
            </a:r>
          </a:p>
          <a:p>
            <a:r>
              <a:rPr lang="fr-FR" dirty="0"/>
              <a:t>Présentation du plan prévisionnel</a:t>
            </a:r>
          </a:p>
          <a:p>
            <a:pPr lvl="1"/>
            <a:r>
              <a:rPr lang="fr-FR" dirty="0"/>
              <a:t>Choix du jeu de données </a:t>
            </a:r>
          </a:p>
          <a:p>
            <a:pPr lvl="1"/>
            <a:r>
              <a:rPr lang="fr-FR" dirty="0"/>
              <a:t>Choix des modèles</a:t>
            </a:r>
          </a:p>
          <a:p>
            <a:pPr lvl="1"/>
            <a:r>
              <a:rPr lang="fr-FR" dirty="0"/>
              <a:t>Présentation des sources associées</a:t>
            </a:r>
          </a:p>
          <a:p>
            <a:r>
              <a:rPr lang="fr-FR" dirty="0"/>
              <a:t>Présentation de la démarche mise en œuvre</a:t>
            </a:r>
          </a:p>
          <a:p>
            <a:pPr lvl="1"/>
            <a:r>
              <a:rPr lang="fr-FR" dirty="0"/>
              <a:t>Présentation des nouveaux concepts et techniques</a:t>
            </a:r>
          </a:p>
          <a:p>
            <a:pPr lvl="1"/>
            <a:r>
              <a:rPr lang="fr-FR" dirty="0"/>
              <a:t>Restitution des résultats comparés entre le nouvel algorithme et la </a:t>
            </a:r>
            <a:r>
              <a:rPr lang="fr-FR" dirty="0" err="1"/>
              <a:t>baseline</a:t>
            </a:r>
            <a:endParaRPr lang="fr-FR" dirty="0"/>
          </a:p>
          <a:p>
            <a:r>
              <a:rPr lang="fr-FR" dirty="0"/>
              <a:t>Démonstration du </a:t>
            </a:r>
            <a:r>
              <a:rPr lang="fr-FR" dirty="0" err="1"/>
              <a:t>dashboard</a:t>
            </a:r>
            <a:r>
              <a:rPr lang="fr-FR" dirty="0"/>
              <a:t>, déployé sur le cloud</a:t>
            </a:r>
          </a:p>
          <a:p>
            <a:r>
              <a:rPr lang="fr-FR" dirty="0"/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11D7E-522A-78AD-4397-C3BCEA1026CB}"/>
              </a:ext>
            </a:extLst>
          </p:cNvPr>
          <p:cNvSpPr/>
          <p:nvPr/>
        </p:nvSpPr>
        <p:spPr>
          <a:xfrm>
            <a:off x="10664575" y="0"/>
            <a:ext cx="1527425" cy="6858000"/>
          </a:xfrm>
          <a:prstGeom prst="rect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1717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A7EF-9705-903F-5276-36C24FEF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BFE97A-653A-28F1-0B56-C48D234E6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9C34FA-5093-B2EB-E173-0B707FF5C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Recrutement Data </a:t>
            </a:r>
            <a:r>
              <a:rPr lang="fr-FR" dirty="0" err="1"/>
              <a:t>Scientist</a:t>
            </a:r>
            <a:r>
              <a:rPr lang="fr-FR" dirty="0"/>
              <a:t> chez </a:t>
            </a:r>
            <a:r>
              <a:rPr lang="fr-FR" b="1" dirty="0" err="1"/>
              <a:t>DataSpace</a:t>
            </a:r>
            <a:endParaRPr lang="fr-FR" b="1" dirty="0"/>
          </a:p>
          <a:p>
            <a:r>
              <a:rPr lang="fr-FR" dirty="0"/>
              <a:t>Réaliser un test technique : une </a:t>
            </a:r>
            <a:r>
              <a:rPr lang="fr-FR" b="1" dirty="0"/>
              <a:t>veille technologique</a:t>
            </a:r>
            <a:r>
              <a:rPr lang="fr-FR" dirty="0"/>
              <a:t>, identifier une </a:t>
            </a:r>
            <a:r>
              <a:rPr lang="fr-FR" b="1" dirty="0"/>
              <a:t>méthode récente</a:t>
            </a:r>
            <a:r>
              <a:rPr lang="fr-FR" dirty="0"/>
              <a:t>, et démontrer </a:t>
            </a:r>
            <a:r>
              <a:rPr lang="fr-FR" b="1" dirty="0"/>
              <a:t>une amélioration mesurable</a:t>
            </a:r>
            <a:r>
              <a:rPr lang="fr-FR" dirty="0"/>
              <a:t> par rapport à un modèle existant.</a:t>
            </a:r>
          </a:p>
          <a:p>
            <a:endParaRPr lang="fr-FR" dirty="0"/>
          </a:p>
          <a:p>
            <a:r>
              <a:rPr lang="fr-FR" b="1" dirty="0"/>
              <a:t>Classification d’images – Comparaison MobileNetV2 vs DINOv2</a:t>
            </a:r>
            <a:br>
              <a:rPr lang="fr-FR" dirty="0"/>
            </a:br>
            <a:r>
              <a:rPr lang="fr-FR" i="1" dirty="0"/>
              <a:t>Preuve de concept – Stanford </a:t>
            </a:r>
            <a:r>
              <a:rPr lang="fr-FR" i="1" dirty="0" err="1"/>
              <a:t>Dogs</a:t>
            </a:r>
            <a:r>
              <a:rPr lang="fr-FR" i="1" dirty="0"/>
              <a:t> </a:t>
            </a:r>
            <a:r>
              <a:rPr lang="fr-FR" i="1" dirty="0" err="1"/>
              <a:t>Dataset</a:t>
            </a:r>
            <a:endParaRPr lang="fr-FR" dirty="0"/>
          </a:p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CBBA3D-1234-A8DE-FD89-C198258F61DB}"/>
              </a:ext>
            </a:extLst>
          </p:cNvPr>
          <p:cNvSpPr/>
          <p:nvPr/>
        </p:nvSpPr>
        <p:spPr>
          <a:xfrm rot="16200000">
            <a:off x="5625958" y="291955"/>
            <a:ext cx="940084" cy="12192003"/>
          </a:xfrm>
          <a:prstGeom prst="rect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101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8864-F762-4606-5A2F-96175CF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A82055-789F-7108-30F2-1AF3AB9BB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Objectif du test technique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BE6D94-A857-5622-9593-6685061BF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Objectifs :</a:t>
            </a:r>
          </a:p>
          <a:p>
            <a:r>
              <a:rPr lang="fr-FR" dirty="0"/>
              <a:t>Identifier un </a:t>
            </a:r>
            <a:r>
              <a:rPr lang="fr-FR" b="1" dirty="0"/>
              <a:t>algorithme plus récent</a:t>
            </a:r>
            <a:r>
              <a:rPr lang="fr-FR" dirty="0"/>
              <a:t> que la </a:t>
            </a:r>
            <a:r>
              <a:rPr lang="fr-FR" dirty="0" err="1"/>
              <a:t>baseline</a:t>
            </a:r>
            <a:endParaRPr lang="fr-FR" dirty="0"/>
          </a:p>
          <a:p>
            <a:r>
              <a:rPr lang="fr-FR" dirty="0"/>
              <a:t>Implémenter une </a:t>
            </a:r>
            <a:r>
              <a:rPr lang="fr-FR" b="1" dirty="0"/>
              <a:t>preuve de concept</a:t>
            </a:r>
            <a:endParaRPr lang="fr-FR" dirty="0"/>
          </a:p>
          <a:p>
            <a:r>
              <a:rPr lang="fr-FR" dirty="0"/>
              <a:t>Comparer objectivement les performances</a:t>
            </a:r>
          </a:p>
          <a:p>
            <a:r>
              <a:rPr lang="fr-FR" dirty="0"/>
              <a:t>Proposer une </a:t>
            </a:r>
            <a:r>
              <a:rPr lang="fr-FR" b="1" dirty="0"/>
              <a:t>visualisation claire via un </a:t>
            </a:r>
            <a:r>
              <a:rPr lang="fr-FR" b="1" dirty="0" err="1"/>
              <a:t>dashboard</a:t>
            </a:r>
            <a:r>
              <a:rPr lang="fr-FR" b="1" dirty="0"/>
              <a:t> cloud</a:t>
            </a:r>
            <a:endParaRPr lang="fr-FR" dirty="0"/>
          </a:p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5601C5-2474-3473-1A1F-13640AA25C1B}"/>
              </a:ext>
            </a:extLst>
          </p:cNvPr>
          <p:cNvSpPr/>
          <p:nvPr/>
        </p:nvSpPr>
        <p:spPr>
          <a:xfrm>
            <a:off x="10664575" y="0"/>
            <a:ext cx="1527425" cy="6858000"/>
          </a:xfrm>
          <a:prstGeom prst="rect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060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F8A2-9C81-6577-D547-362A7AD6F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164C3-9484-909E-3853-67CCF928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Choix du jeu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D09F06-6FD1-8F7F-2005-B0A898C82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err="1"/>
              <a:t>Dataset</a:t>
            </a:r>
            <a:r>
              <a:rPr lang="fr-FR" dirty="0"/>
              <a:t> retenu : </a:t>
            </a:r>
            <a:r>
              <a:rPr lang="fr-FR" b="1" dirty="0"/>
              <a:t>Stanford </a:t>
            </a:r>
            <a:r>
              <a:rPr lang="fr-FR" b="1" dirty="0" err="1"/>
              <a:t>Dogs</a:t>
            </a:r>
            <a:endParaRPr lang="fr-FR" b="1" dirty="0"/>
          </a:p>
          <a:p>
            <a:r>
              <a:rPr lang="fr-FR" b="1" dirty="0"/>
              <a:t>20 580 </a:t>
            </a:r>
            <a:r>
              <a:rPr lang="fr-FR" dirty="0"/>
              <a:t>images</a:t>
            </a:r>
          </a:p>
          <a:p>
            <a:r>
              <a:rPr lang="fr-FR" b="1" dirty="0"/>
              <a:t>120 </a:t>
            </a:r>
            <a:r>
              <a:rPr lang="fr-FR" dirty="0"/>
              <a:t>races de chiens</a:t>
            </a:r>
          </a:p>
          <a:p>
            <a:r>
              <a:rPr lang="fr-FR" dirty="0"/>
              <a:t>Problème de </a:t>
            </a:r>
            <a:r>
              <a:rPr lang="fr-FR" b="1" dirty="0"/>
              <a:t>classification fine-grainée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Pourquoi ce </a:t>
            </a:r>
            <a:r>
              <a:rPr lang="fr-FR" dirty="0" err="1"/>
              <a:t>dataset</a:t>
            </a:r>
            <a:r>
              <a:rPr lang="fr-FR" dirty="0"/>
              <a:t> ?</a:t>
            </a:r>
          </a:p>
          <a:p>
            <a:r>
              <a:rPr lang="fr-FR" dirty="0"/>
              <a:t>Forte similarité </a:t>
            </a:r>
            <a:r>
              <a:rPr lang="fr-FR" dirty="0" err="1"/>
              <a:t>inter-classes</a:t>
            </a:r>
            <a:endParaRPr lang="fr-FR" dirty="0"/>
          </a:p>
          <a:p>
            <a:r>
              <a:rPr lang="fr-FR" dirty="0"/>
              <a:t>Forte variabilité </a:t>
            </a:r>
            <a:r>
              <a:rPr lang="fr-FR" dirty="0" err="1"/>
              <a:t>intra-classe</a:t>
            </a:r>
            <a:endParaRPr lang="fr-FR" dirty="0"/>
          </a:p>
          <a:p>
            <a:r>
              <a:rPr lang="fr-FR" dirty="0"/>
              <a:t>Déjà utilisé comme </a:t>
            </a:r>
            <a:r>
              <a:rPr lang="fr-FR" dirty="0" err="1"/>
              <a:t>baseline</a:t>
            </a:r>
            <a:r>
              <a:rPr lang="fr-FR" dirty="0"/>
              <a:t> → comparaison équitable</a:t>
            </a:r>
          </a:p>
          <a:p>
            <a:endParaRPr lang="fr-FR" dirty="0"/>
          </a:p>
        </p:txBody>
      </p:sp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CDDEDA9D-BC03-C07E-E276-6AB3E7682610}"/>
              </a:ext>
            </a:extLst>
          </p:cNvPr>
          <p:cNvSpPr/>
          <p:nvPr/>
        </p:nvSpPr>
        <p:spPr>
          <a:xfrm rot="10800000">
            <a:off x="8599470" y="0"/>
            <a:ext cx="3592530" cy="3429000"/>
          </a:xfrm>
          <a:prstGeom prst="rtTriangle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54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6B1B-C67F-D5E0-7C47-6B58A521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13D4B-2008-E084-4DAD-6708BC6A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Choix des modèles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3955768-A5EB-90A5-8A5F-1629EAAAAAB3}"/>
              </a:ext>
            </a:extLst>
          </p:cNvPr>
          <p:cNvSpPr txBox="1"/>
          <p:nvPr/>
        </p:nvSpPr>
        <p:spPr>
          <a:xfrm>
            <a:off x="5743254" y="1825625"/>
            <a:ext cx="561054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Nouvelle méthode : DINOv2</a:t>
            </a:r>
            <a:endParaRPr lang="fr-FR" sz="2800" dirty="0"/>
          </a:p>
          <a:p>
            <a:r>
              <a:rPr lang="fr-FR" sz="2800" dirty="0"/>
              <a:t>Apprentissage </a:t>
            </a:r>
            <a:r>
              <a:rPr lang="fr-FR" sz="2800" b="1" dirty="0"/>
              <a:t>auto-supervisé</a:t>
            </a:r>
            <a:endParaRPr lang="fr-FR" sz="2800" dirty="0"/>
          </a:p>
          <a:p>
            <a:r>
              <a:rPr lang="fr-FR" sz="2800" dirty="0"/>
              <a:t>Pré-entraînement massif (142M images)</a:t>
            </a:r>
          </a:p>
          <a:p>
            <a:r>
              <a:rPr lang="fr-FR" sz="2800" dirty="0"/>
              <a:t>Utilisé comme </a:t>
            </a:r>
            <a:r>
              <a:rPr lang="fr-FR" sz="2800" b="1" dirty="0"/>
              <a:t>extracteur de </a:t>
            </a:r>
            <a:r>
              <a:rPr lang="fr-FR" sz="2800" b="1" dirty="0" err="1"/>
              <a:t>features</a:t>
            </a:r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Pourquoi DINOv2 ?</a:t>
            </a:r>
          </a:p>
          <a:p>
            <a:r>
              <a:rPr lang="fr-FR" sz="2800" dirty="0"/>
              <a:t>Open-source</a:t>
            </a:r>
          </a:p>
          <a:p>
            <a:r>
              <a:rPr lang="fr-FR" sz="2800" dirty="0"/>
              <a:t>Performances SOTA</a:t>
            </a:r>
          </a:p>
          <a:p>
            <a:r>
              <a:rPr lang="fr-FR" sz="2800" dirty="0"/>
              <a:t>Très utilisé en recherche et en industrie</a:t>
            </a:r>
          </a:p>
          <a:p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A5FCEB4-3B90-9FC3-9D25-6DB6D8E21348}"/>
              </a:ext>
            </a:extLst>
          </p:cNvPr>
          <p:cNvCxnSpPr/>
          <p:nvPr/>
        </p:nvCxnSpPr>
        <p:spPr>
          <a:xfrm>
            <a:off x="5137079" y="1690688"/>
            <a:ext cx="0" cy="4905321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CDF9E3B7-DC61-FD4B-D839-780EDC5A2066}"/>
              </a:ext>
            </a:extLst>
          </p:cNvPr>
          <p:cNvSpPr txBox="1"/>
          <p:nvPr/>
        </p:nvSpPr>
        <p:spPr>
          <a:xfrm>
            <a:off x="838200" y="1825624"/>
            <a:ext cx="387763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Baseline : MobileNetV2 fine-</a:t>
            </a:r>
            <a:r>
              <a:rPr lang="fr-FR" sz="2800" b="1" dirty="0" err="1"/>
              <a:t>tuné</a:t>
            </a:r>
            <a:endParaRPr lang="fr-FR" sz="2800" dirty="0"/>
          </a:p>
          <a:p>
            <a:r>
              <a:rPr lang="fr-FR" sz="2800" dirty="0"/>
              <a:t>CNN léger</a:t>
            </a:r>
          </a:p>
          <a:p>
            <a:r>
              <a:rPr lang="fr-FR" sz="2800" dirty="0"/>
              <a:t>Pré-entraîné </a:t>
            </a:r>
            <a:r>
              <a:rPr lang="fr-FR" sz="2800" dirty="0" err="1"/>
              <a:t>ImageNet</a:t>
            </a:r>
            <a:endParaRPr lang="fr-FR" sz="2800" dirty="0"/>
          </a:p>
          <a:p>
            <a:r>
              <a:rPr lang="fr-FR" sz="2800" dirty="0"/>
              <a:t>Supervision classique</a:t>
            </a:r>
          </a:p>
          <a:p>
            <a:endParaRPr lang="fr-FR" dirty="0"/>
          </a:p>
        </p:txBody>
      </p:sp>
      <p:sp>
        <p:nvSpPr>
          <p:cNvPr id="10" name="Triangle rectangle 9">
            <a:extLst>
              <a:ext uri="{FF2B5EF4-FFF2-40B4-BE49-F238E27FC236}">
                <a16:creationId xmlns:a16="http://schemas.microsoft.com/office/drawing/2014/main" id="{D3EBB50C-CB14-492E-AE39-D172BEE07D02}"/>
              </a:ext>
            </a:extLst>
          </p:cNvPr>
          <p:cNvSpPr/>
          <p:nvPr/>
        </p:nvSpPr>
        <p:spPr>
          <a:xfrm>
            <a:off x="0" y="3429000"/>
            <a:ext cx="3592530" cy="3429000"/>
          </a:xfrm>
          <a:prstGeom prst="rtTriangle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188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4148-DEED-DE08-71C7-9F44A97DD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9157C-CEEC-3677-AA21-6266A075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Présentation des sources associées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2A646D-D425-AFF3-B943-EC750EBE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b="1" dirty="0"/>
              <a:t>1. Article de recherche original (</a:t>
            </a:r>
            <a:r>
              <a:rPr lang="fr-FR" b="1" dirty="0" err="1"/>
              <a:t>arXiv</a:t>
            </a:r>
            <a:r>
              <a:rPr lang="fr-FR" b="1" dirty="0"/>
              <a:t>) / DINOv2: Learning </a:t>
            </a:r>
            <a:r>
              <a:rPr lang="fr-FR" b="1" dirty="0" err="1"/>
              <a:t>Robust</a:t>
            </a:r>
            <a:r>
              <a:rPr lang="fr-FR" b="1" dirty="0"/>
              <a:t> Visual </a:t>
            </a:r>
            <a:r>
              <a:rPr lang="fr-FR" b="1" dirty="0" err="1"/>
              <a:t>Features</a:t>
            </a:r>
            <a:r>
              <a:rPr lang="fr-FR" b="1" dirty="0"/>
              <a:t> </a:t>
            </a:r>
            <a:r>
              <a:rPr lang="fr-FR" b="1" dirty="0" err="1"/>
              <a:t>without</a:t>
            </a:r>
            <a:r>
              <a:rPr lang="fr-FR" b="1" dirty="0"/>
              <a:t> Supervision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C’est </a:t>
            </a:r>
            <a:r>
              <a:rPr lang="fr-FR" b="1" dirty="0"/>
              <a:t>la source primaire officielle du modèle</a:t>
            </a:r>
            <a:r>
              <a:rPr lang="fr-FR" dirty="0"/>
              <a:t>, écrite par les auteurs eux-mêmes (Meta AI </a:t>
            </a:r>
            <a:r>
              <a:rPr lang="fr-FR" dirty="0" err="1"/>
              <a:t>Research</a:t>
            </a:r>
            <a:r>
              <a:rPr lang="fr-FR" dirty="0"/>
              <a:t>).</a:t>
            </a:r>
            <a:br>
              <a:rPr lang="fr-FR" dirty="0"/>
            </a:br>
            <a:r>
              <a:rPr lang="fr-FR" dirty="0"/>
              <a:t>Elle décrit : les motivations scientifiques, l’architecture backbone, l’apprentissage auto-supervisé et les résultats sur benchmarks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i="1" u="sng" dirty="0"/>
              <a:t>Utilité</a:t>
            </a:r>
            <a:r>
              <a:rPr lang="fr-FR" dirty="0"/>
              <a:t> : c’est la source la plus complète et fiable pour expliquer </a:t>
            </a:r>
            <a:r>
              <a:rPr lang="fr-FR" b="1" dirty="0"/>
              <a:t>comment et pourquoi DINOv2 fonctionne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DAE37A-727D-BD24-F8AC-35BD283801CF}"/>
              </a:ext>
            </a:extLst>
          </p:cNvPr>
          <p:cNvSpPr/>
          <p:nvPr/>
        </p:nvSpPr>
        <p:spPr>
          <a:xfrm rot="16200000">
            <a:off x="5625958" y="291955"/>
            <a:ext cx="940084" cy="12192003"/>
          </a:xfrm>
          <a:prstGeom prst="rect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823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D322-C4BE-5821-40B6-436DC044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5983AB-99D2-3356-AE5F-CB247D74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Présentation des sources associées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1E1C5C-7631-1E4B-3C5A-AD499FED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b="1" dirty="0"/>
              <a:t>2. Documentation DINOv2 sur </a:t>
            </a:r>
            <a:r>
              <a:rPr lang="fr-FR" b="1" dirty="0" err="1"/>
              <a:t>HuggingFace</a:t>
            </a:r>
            <a:r>
              <a:rPr lang="fr-FR" b="1" dirty="0"/>
              <a:t> Transformers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dirty="0"/>
              <a:t>Une documentation </a:t>
            </a:r>
            <a:r>
              <a:rPr lang="fr-FR" b="1" dirty="0"/>
              <a:t>pratique et orientée implémentation</a:t>
            </a:r>
            <a:r>
              <a:rPr lang="fr-FR" dirty="0"/>
              <a:t>, avec exemples d’utilisation pour extraire des </a:t>
            </a:r>
            <a:r>
              <a:rPr lang="fr-FR" dirty="0" err="1"/>
              <a:t>embeddings</a:t>
            </a:r>
            <a:r>
              <a:rPr lang="fr-FR" dirty="0"/>
              <a:t>, basculer entre les variantes, etc.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fr-FR" i="1" u="sng" dirty="0"/>
              <a:t>Utilité</a:t>
            </a:r>
            <a:r>
              <a:rPr lang="fr-FR" dirty="0"/>
              <a:t> :</a:t>
            </a:r>
          </a:p>
          <a:p>
            <a:pPr>
              <a:lnSpc>
                <a:spcPct val="100000"/>
              </a:lnSpc>
            </a:pPr>
            <a:r>
              <a:rPr lang="fr-FR" dirty="0"/>
              <a:t>aborde la définition du modèle</a:t>
            </a:r>
          </a:p>
          <a:p>
            <a:pPr>
              <a:lnSpc>
                <a:spcPct val="100000"/>
              </a:lnSpc>
            </a:pPr>
            <a:r>
              <a:rPr lang="fr-FR" dirty="0"/>
              <a:t>montre comment l’utiliser concrètement</a:t>
            </a:r>
          </a:p>
          <a:p>
            <a:pPr>
              <a:lnSpc>
                <a:spcPct val="100000"/>
              </a:lnSpc>
            </a:pPr>
            <a:r>
              <a:rPr lang="fr-FR" dirty="0"/>
              <a:t>propose des exemples de code</a:t>
            </a:r>
          </a:p>
          <a:p>
            <a:endParaRPr lang="fr-FR" dirty="0"/>
          </a:p>
        </p:txBody>
      </p:sp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B5120553-9237-96AD-1BA7-F306D7A0760F}"/>
              </a:ext>
            </a:extLst>
          </p:cNvPr>
          <p:cNvSpPr/>
          <p:nvPr/>
        </p:nvSpPr>
        <p:spPr>
          <a:xfrm rot="16200000">
            <a:off x="8681235" y="3347235"/>
            <a:ext cx="3592530" cy="3429000"/>
          </a:xfrm>
          <a:prstGeom prst="rtTriangle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00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955AA-2208-7D44-138F-3A1C06C8B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22198E-CCA2-5F03-2A29-F72A23288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Présentation des sources associées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F10518-79D4-8EB5-73A5-9F74CC3D6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sz="11200" b="1" dirty="0"/>
              <a:t>3. Tutoriel explicatif étape par étape (</a:t>
            </a:r>
            <a:r>
              <a:rPr lang="fr-FR" sz="11200" b="1" dirty="0" err="1"/>
              <a:t>Picsellia</a:t>
            </a:r>
            <a:r>
              <a:rPr lang="fr-FR" sz="11200" b="1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11200" dirty="0"/>
              <a:t>Article vulgarisé qui présente DINOv2 étape par étape, avec des explications claires du concept d’</a:t>
            </a:r>
            <a:r>
              <a:rPr lang="fr-FR" sz="11200" b="1" dirty="0"/>
              <a:t>apprentissage auto-supervisé</a:t>
            </a:r>
            <a:r>
              <a:rPr lang="fr-FR" sz="11200" dirty="0"/>
              <a:t>, des pipelines de données, etc.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11200" i="1" dirty="0"/>
              <a:t>Utilité</a:t>
            </a:r>
            <a:r>
              <a:rPr lang="fr-FR" sz="11200" dirty="0"/>
              <a:t> :</a:t>
            </a:r>
          </a:p>
          <a:p>
            <a:pPr>
              <a:lnSpc>
                <a:spcPct val="120000"/>
              </a:lnSpc>
            </a:pPr>
            <a:r>
              <a:rPr lang="fr-FR" sz="11200" dirty="0"/>
              <a:t>rédigé dans un style pédagogique</a:t>
            </a:r>
          </a:p>
          <a:p>
            <a:pPr>
              <a:lnSpc>
                <a:spcPct val="120000"/>
              </a:lnSpc>
            </a:pPr>
            <a:r>
              <a:rPr lang="fr-FR" sz="11200" dirty="0"/>
              <a:t>bon pour une introduction non technique</a:t>
            </a:r>
          </a:p>
          <a:p>
            <a:pPr>
              <a:lnSpc>
                <a:spcPct val="120000"/>
              </a:lnSpc>
            </a:pPr>
            <a:r>
              <a:rPr lang="fr-FR" sz="11200" dirty="0"/>
              <a:t>parfait pour soutenir une </a:t>
            </a:r>
            <a:r>
              <a:rPr lang="fr-FR" sz="11200" b="1" dirty="0"/>
              <a:t>partie discours / slide</a:t>
            </a:r>
            <a:r>
              <a:rPr lang="fr-FR" sz="11200" dirty="0"/>
              <a:t> de présentation</a:t>
            </a:r>
          </a:p>
          <a:p>
            <a:pPr marL="0" indent="0">
              <a:buNone/>
            </a:pPr>
            <a:br>
              <a:rPr lang="fr-FR" dirty="0"/>
            </a:br>
            <a:endParaRPr lang="fr-FR" dirty="0"/>
          </a:p>
          <a:p>
            <a:endParaRPr lang="fr-FR" dirty="0"/>
          </a:p>
        </p:txBody>
      </p:sp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450EFA31-8E96-3F3F-6862-615FF84AEE82}"/>
              </a:ext>
            </a:extLst>
          </p:cNvPr>
          <p:cNvSpPr/>
          <p:nvPr/>
        </p:nvSpPr>
        <p:spPr>
          <a:xfrm rot="10800000">
            <a:off x="8599470" y="0"/>
            <a:ext cx="3592530" cy="3429000"/>
          </a:xfrm>
          <a:prstGeom prst="rtTriangle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4712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8D85-71E5-193A-6A37-0ADBE080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BAA2F-D842-6DF3-BB31-88AB61DF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Présentation des nouveaux concepts et techniques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9F416672-368D-9D19-11A4-927DC3C468E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b="1" dirty="0"/>
              <a:t>Concepts clés 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/>
              <a:t>Self-</a:t>
            </a:r>
            <a:r>
              <a:rPr lang="fr-FR" altLang="fr-FR" b="1" dirty="0" err="1"/>
              <a:t>supervised</a:t>
            </a:r>
            <a:r>
              <a:rPr lang="fr-FR" altLang="fr-FR" b="1" dirty="0"/>
              <a:t> </a:t>
            </a:r>
            <a:r>
              <a:rPr lang="fr-FR" altLang="fr-FR" b="1" dirty="0" err="1"/>
              <a:t>learning</a:t>
            </a:r>
            <a:endParaRPr lang="fr-FR" altLang="fr-FR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/>
              <a:t>Vision Transformers (</a:t>
            </a:r>
            <a:r>
              <a:rPr lang="fr-FR" altLang="fr-FR" b="1" dirty="0" err="1"/>
              <a:t>ViT</a:t>
            </a:r>
            <a:r>
              <a:rPr lang="fr-FR" altLang="fr-FR" b="1" dirty="0"/>
              <a:t>)</a:t>
            </a:r>
            <a:endParaRPr lang="fr-FR" altLang="fr-FR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dirty="0"/>
              <a:t>Séparation </a:t>
            </a:r>
            <a:r>
              <a:rPr lang="fr-FR" altLang="fr-FR" i="1" dirty="0" err="1"/>
              <a:t>feature</a:t>
            </a:r>
            <a:r>
              <a:rPr lang="fr-FR" altLang="fr-FR" i="1" dirty="0"/>
              <a:t> extraction</a:t>
            </a:r>
            <a:r>
              <a:rPr lang="fr-FR" altLang="fr-FR" dirty="0"/>
              <a:t> / </a:t>
            </a:r>
            <a:r>
              <a:rPr lang="fr-FR" altLang="fr-FR" i="1" dirty="0"/>
              <a:t>classification</a:t>
            </a:r>
            <a:endParaRPr lang="fr-FR" altLang="fr-FR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fr-FR" dirty="0"/>
              <a:t>Réutilisation de représentations universelles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altLang="fr-FR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b="1" dirty="0"/>
              <a:t>Différence clé :</a:t>
            </a:r>
          </a:p>
          <a:p>
            <a:endParaRPr lang="fr-FR" dirty="0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551920D9-32C9-B25E-166F-9DF595596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103546"/>
              </p:ext>
            </p:extLst>
          </p:nvPr>
        </p:nvGraphicFramePr>
        <p:xfrm>
          <a:off x="953213" y="4926432"/>
          <a:ext cx="8128000" cy="14833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498179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58381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Vision Transformer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489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Global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42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Supervised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Self-</a:t>
                      </a:r>
                      <a:r>
                        <a:rPr lang="fr-FR" dirty="0" err="1"/>
                        <a:t>supervised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966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Dépend des labels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Robuste sans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199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635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67B6BBA-9705-5FC3-A17E-901C3293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F3A72-440E-AB11-20D9-18668129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fr-FR" sz="4400" b="1" u="sng" dirty="0">
                <a:latin typeface="+mj-lt"/>
              </a:rPr>
              <a:t>Restitution des résultats comparés entre le nouvel algorithme et la </a:t>
            </a:r>
            <a:r>
              <a:rPr lang="fr-FR" sz="4400" b="1" u="sng" dirty="0" err="1">
                <a:latin typeface="+mj-lt"/>
              </a:rPr>
              <a:t>baseline</a:t>
            </a:r>
            <a:endParaRPr lang="fr-FR" sz="4400" b="1" u="sng" dirty="0">
              <a:latin typeface="+mj-l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4A9DCF-274C-BC36-0773-D28E0E22B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46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Observations :</a:t>
            </a:r>
          </a:p>
          <a:p>
            <a:r>
              <a:rPr lang="fr-FR" dirty="0"/>
              <a:t>Meilleure discrimination des races proches</a:t>
            </a:r>
          </a:p>
          <a:p>
            <a:r>
              <a:rPr lang="fr-FR" dirty="0"/>
              <a:t>Moins de confusion </a:t>
            </a:r>
            <a:r>
              <a:rPr lang="fr-FR" dirty="0" err="1"/>
              <a:t>inter-classe</a:t>
            </a:r>
            <a:endParaRPr lang="fr-FR" dirty="0"/>
          </a:p>
          <a:p>
            <a:r>
              <a:rPr lang="fr-FR" dirty="0"/>
              <a:t>Représentations plus stables</a:t>
            </a:r>
          </a:p>
          <a:p>
            <a:pPr marL="0" indent="0">
              <a:buNone/>
            </a:pPr>
            <a:r>
              <a:rPr lang="fr-FR" b="1" dirty="0"/>
              <a:t>Limites :</a:t>
            </a:r>
          </a:p>
          <a:p>
            <a:r>
              <a:rPr lang="fr-FR" dirty="0"/>
              <a:t>Coût computationnel plus élevé</a:t>
            </a:r>
          </a:p>
          <a:p>
            <a:r>
              <a:rPr lang="fr-FR" dirty="0"/>
              <a:t>Dépendance </a:t>
            </a:r>
            <a:r>
              <a:rPr lang="fr-FR" dirty="0" err="1"/>
              <a:t>PyTorch</a:t>
            </a:r>
            <a:r>
              <a:rPr lang="fr-FR" dirty="0"/>
              <a:t> / GPU pour l’extraction</a:t>
            </a:r>
          </a:p>
          <a:p>
            <a:endParaRPr lang="fr-FR" dirty="0"/>
          </a:p>
        </p:txBody>
      </p:sp>
      <p:sp>
        <p:nvSpPr>
          <p:cNvPr id="4" name="Triangle rectangle 3">
            <a:extLst>
              <a:ext uri="{FF2B5EF4-FFF2-40B4-BE49-F238E27FC236}">
                <a16:creationId xmlns:a16="http://schemas.microsoft.com/office/drawing/2014/main" id="{8E2C288A-8EB8-F161-FF6E-CAFC941D6F6A}"/>
              </a:ext>
            </a:extLst>
          </p:cNvPr>
          <p:cNvSpPr/>
          <p:nvPr/>
        </p:nvSpPr>
        <p:spPr>
          <a:xfrm rot="16200000">
            <a:off x="8681235" y="3347235"/>
            <a:ext cx="3592530" cy="3429000"/>
          </a:xfrm>
          <a:prstGeom prst="rtTriangle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AC7EF96E-96EF-69F5-3A70-078BD65CA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28722"/>
              </p:ext>
            </p:extLst>
          </p:nvPr>
        </p:nvGraphicFramePr>
        <p:xfrm>
          <a:off x="7561780" y="2481378"/>
          <a:ext cx="4366516" cy="855156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2414427">
                  <a:extLst>
                    <a:ext uri="{9D8B030D-6E8A-4147-A177-3AD203B41FA5}">
                      <a16:colId xmlns:a16="http://schemas.microsoft.com/office/drawing/2014/main" val="168176887"/>
                    </a:ext>
                  </a:extLst>
                </a:gridCol>
                <a:gridCol w="1952089">
                  <a:extLst>
                    <a:ext uri="{9D8B030D-6E8A-4147-A177-3AD203B41FA5}">
                      <a16:colId xmlns:a16="http://schemas.microsoft.com/office/drawing/2014/main" val="2670309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Modèle</a:t>
                      </a:r>
                      <a:endParaRPr lang="fr-F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Validation </a:t>
                      </a:r>
                      <a:r>
                        <a:rPr lang="fr-FR" sz="1600" kern="100" dirty="0" err="1">
                          <a:effectLst/>
                        </a:rPr>
                        <a:t>Accuracy</a:t>
                      </a:r>
                      <a:endParaRPr lang="fr-F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64042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</a:rPr>
                        <a:t>MobileNetV2 Fine-Tuned</a:t>
                      </a:r>
                      <a:endParaRPr lang="fr-F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</a:rPr>
                        <a:t>0.6087</a:t>
                      </a:r>
                      <a:endParaRPr lang="fr-F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34346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</a:rPr>
                        <a:t>DINOv2 + Classifier</a:t>
                      </a:r>
                      <a:endParaRPr lang="fr-F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0.8887</a:t>
                      </a:r>
                      <a:endParaRPr lang="fr-F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9082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56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6519318-5ADB-2B39-5F90-7556103B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A66B28-21B3-68A9-DF9B-2A17272E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Démonstration du </a:t>
            </a:r>
            <a:r>
              <a:rPr lang="fr-FR" sz="4000" b="1" u="sng" dirty="0" err="1"/>
              <a:t>dashboard</a:t>
            </a:r>
            <a:r>
              <a:rPr lang="fr-FR" sz="4000" b="1" u="sng" dirty="0"/>
              <a:t>, déployé sur le cloud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19BE95-B4B2-0C2A-23FC-43BCDF948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Fonctionnalités :</a:t>
            </a:r>
          </a:p>
          <a:p>
            <a:r>
              <a:rPr lang="fr-FR" dirty="0"/>
              <a:t>Galerie d’images avec prédictions</a:t>
            </a:r>
          </a:p>
          <a:p>
            <a:r>
              <a:rPr lang="fr-FR" dirty="0"/>
              <a:t>Indication </a:t>
            </a:r>
            <a:r>
              <a:rPr lang="fr-FR" b="1" dirty="0"/>
              <a:t>Correct / Incorrect</a:t>
            </a:r>
            <a:endParaRPr lang="fr-FR" dirty="0"/>
          </a:p>
          <a:p>
            <a:r>
              <a:rPr lang="fr-FR" dirty="0"/>
              <a:t>Comparaison MobileNetV2 vs DINOv2</a:t>
            </a:r>
          </a:p>
          <a:p>
            <a:r>
              <a:rPr lang="fr-FR" dirty="0"/>
              <a:t>Graphiques interactifs liés aux images affichées</a:t>
            </a:r>
          </a:p>
          <a:p>
            <a:r>
              <a:rPr lang="fr-FR" dirty="0"/>
              <a:t>Déployé sur le cloud (</a:t>
            </a:r>
            <a:r>
              <a:rPr lang="fr-FR" dirty="0" err="1"/>
              <a:t>Render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Lien :</a:t>
            </a:r>
            <a:r>
              <a:rPr lang="fr-FR" dirty="0"/>
              <a:t> </a:t>
            </a:r>
            <a:r>
              <a:rPr lang="fr-FR" dirty="0">
                <a:hlinkClick r:id="rId3"/>
              </a:rPr>
              <a:t>https://projet7-l492.onrender.com/</a:t>
            </a:r>
            <a:endParaRPr lang="fr-FR" dirty="0"/>
          </a:p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682A09-8C8D-F3C4-E324-86B2D361E461}"/>
              </a:ext>
            </a:extLst>
          </p:cNvPr>
          <p:cNvSpPr/>
          <p:nvPr/>
        </p:nvSpPr>
        <p:spPr>
          <a:xfrm rot="16200000">
            <a:off x="5625958" y="291955"/>
            <a:ext cx="940084" cy="12192003"/>
          </a:xfrm>
          <a:prstGeom prst="rect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295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E575573-FD1B-9FB0-04D0-4BA53355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E3A574-A4C0-BD79-E6D6-3746E5D8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E1C382-07C4-13DD-CA51-4D1150483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Conclusion :</a:t>
            </a:r>
          </a:p>
          <a:p>
            <a:r>
              <a:rPr lang="fr-FR" dirty="0"/>
              <a:t>DINOv2 = modèle retenu</a:t>
            </a:r>
          </a:p>
          <a:p>
            <a:r>
              <a:rPr lang="fr-FR" dirty="0"/>
              <a:t>Gain de performance significatif</a:t>
            </a:r>
          </a:p>
          <a:p>
            <a:r>
              <a:rPr lang="fr-FR" dirty="0"/>
              <a:t>Méthode moderne et industrialisable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b="1" dirty="0"/>
              <a:t>Perspectives :</a:t>
            </a:r>
          </a:p>
          <a:p>
            <a:r>
              <a:rPr lang="fr-FR" dirty="0"/>
              <a:t>Fine-tuning complet du </a:t>
            </a:r>
            <a:r>
              <a:rPr lang="fr-FR" dirty="0" err="1"/>
              <a:t>ViT</a:t>
            </a:r>
            <a:endParaRPr lang="fr-FR" dirty="0"/>
          </a:p>
          <a:p>
            <a:r>
              <a:rPr lang="fr-FR" dirty="0"/>
              <a:t>Comparaison avec CLIP / MAE</a:t>
            </a:r>
          </a:p>
          <a:p>
            <a:r>
              <a:rPr lang="fr-FR" dirty="0"/>
              <a:t>API de prédiction temps réel</a:t>
            </a:r>
          </a:p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B2411B-68BF-C639-BBB8-C17CF7A40A04}"/>
              </a:ext>
            </a:extLst>
          </p:cNvPr>
          <p:cNvSpPr/>
          <p:nvPr/>
        </p:nvSpPr>
        <p:spPr>
          <a:xfrm>
            <a:off x="10664575" y="0"/>
            <a:ext cx="1527425" cy="6858000"/>
          </a:xfrm>
          <a:prstGeom prst="rect">
            <a:avLst/>
          </a:prstGeom>
          <a:solidFill>
            <a:srgbClr val="284D72"/>
          </a:solidFill>
          <a:ln>
            <a:solidFill>
              <a:srgbClr val="284D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56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</TotalTime>
  <Words>574</Words>
  <Application>Microsoft Office PowerPoint</Application>
  <PresentationFormat>Grand écran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Thème Office</vt:lpstr>
      <vt:lpstr>Présentation PowerPoint</vt:lpstr>
      <vt:lpstr>Sommaire</vt:lpstr>
      <vt:lpstr>Contexte</vt:lpstr>
      <vt:lpstr>Objectif du test technique</vt:lpstr>
      <vt:lpstr>Choix du jeu de données</vt:lpstr>
      <vt:lpstr>Choix des modèles</vt:lpstr>
      <vt:lpstr>Présentation des sources associées </vt:lpstr>
      <vt:lpstr>Présentation des sources associées </vt:lpstr>
      <vt:lpstr>Présentation des sources associées </vt:lpstr>
      <vt:lpstr>Présentation des nouveaux concepts et techniques</vt:lpstr>
      <vt:lpstr>Restitution des résultats comparés entre le nouvel algorithme et la baseline</vt:lpstr>
      <vt:lpstr>Démonstration du dashboard, déployé sur le cloud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Maëlys Dubreuil</dc:creator>
  <cp:lastModifiedBy>Maëlys Dubreuil</cp:lastModifiedBy>
  <cp:revision>10</cp:revision>
  <dcterms:created xsi:type="dcterms:W3CDTF">2026-01-05T12:59:46Z</dcterms:created>
  <dcterms:modified xsi:type="dcterms:W3CDTF">2026-01-06T10:18:30Z</dcterms:modified>
</cp:coreProperties>
</file>